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jpeg" ContentType="image/jpeg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q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u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z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p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u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é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p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p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o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q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z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&lt;en-tête&gt;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7E327AF-3DB3-41F0-98CE-DB12B2E17802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3D96AB-5F0D-4F97-AD4A-BB29246761B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d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/>
          <p:cNvSpPr/>
          <p:nvPr/>
        </p:nvSpPr>
        <p:spPr>
          <a:xfrm>
            <a:off x="201240" y="201240"/>
            <a:ext cx="8741160" cy="4740840"/>
          </a:xfrm>
          <a:prstGeom prst="rect">
            <a:avLst/>
          </a:prstGeom>
          <a:noFill/>
          <a:ln w="9525">
            <a:solidFill>
              <a:srgbClr val="35507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Shape 2"/>
          <p:cNvSpPr/>
          <p:nvPr/>
        </p:nvSpPr>
        <p:spPr>
          <a:xfrm>
            <a:off x="4566600" y="539640"/>
            <a:ext cx="10440" cy="511560"/>
          </a:xfrm>
          <a:prstGeom prst="rect">
            <a:avLst/>
          </a:prstGeom>
          <a:solidFill>
            <a:srgbClr val="2c456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" name="Image 0" descr="/tmp/claude-1000/-home-melack-E-PILOTE/3dd519ee-785a-464e-a27d-95c1a6fbc266/scratchpad/epilote_logo.png"/>
          <p:cNvPicPr/>
          <p:nvPr/>
        </p:nvPicPr>
        <p:blipFill>
          <a:blip r:embed="rId1"/>
          <a:stretch/>
        </p:blipFill>
        <p:spPr>
          <a:xfrm>
            <a:off x="4745880" y="384120"/>
            <a:ext cx="822600" cy="822600"/>
          </a:xfrm>
          <a:prstGeom prst="rect">
            <a:avLst/>
          </a:prstGeom>
          <a:ln w="0">
            <a:noFill/>
          </a:ln>
        </p:spPr>
      </p:pic>
      <p:sp>
        <p:nvSpPr>
          <p:cNvPr id="9" name="Text 3"/>
          <p:cNvSpPr/>
          <p:nvPr/>
        </p:nvSpPr>
        <p:spPr>
          <a:xfrm>
            <a:off x="365760" y="129852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16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900" spc="239" strike="noStrike">
                <a:solidFill>
                  <a:srgbClr val="93a4bc"/>
                </a:solidFill>
                <a:latin typeface="Calibri"/>
                <a:ea typeface="Calibri"/>
              </a:rPr>
              <a:t>RÉPUBLIQUE DU CONGO</a:t>
            </a:r>
            <a:endParaRPr b="0" lang="fr-FR" sz="9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16000"/>
              </a:lnSpc>
              <a:spcAft>
                <a:spcPts val="201"/>
              </a:spcAft>
              <a:tabLst>
                <a:tab algn="l" pos="0"/>
              </a:tabLst>
            </a:pPr>
            <a:r>
              <a:rPr b="1" lang="en-US" sz="1050" spc="137" strike="noStrike">
                <a:solidFill>
                  <a:srgbClr val="f5f8fc"/>
                </a:solidFill>
                <a:latin typeface="Calibri"/>
                <a:ea typeface="Calibri"/>
              </a:rPr>
              <a:t>MINISTÈRE DE L'ENSEIGNEMENT TECHNIQUE ET PROFESSIONNEL</a:t>
            </a:r>
            <a:endParaRPr b="0" lang="fr-F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4"/>
          <p:cNvSpPr/>
          <p:nvPr/>
        </p:nvSpPr>
        <p:spPr>
          <a:xfrm>
            <a:off x="914400" y="1828800"/>
            <a:ext cx="7314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3333" lnSpcReduction="20000"/>
          </a:bodyPr>
          <a:p>
            <a:pPr algn="ctr" defTabSz="914400">
              <a:lnSpc>
                <a:spcPct val="102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5f8fc"/>
                </a:solidFill>
                <a:latin typeface="Arial Black"/>
                <a:ea typeface="Arial Black"/>
              </a:rPr>
              <a:t>Plateforme nationale de gestion des </a:t>
            </a:r>
            <a:r>
              <a:rPr b="1" lang="en-US" sz="2800" spc="-1" strike="noStrike">
                <a:solidFill>
                  <a:srgbClr val="fbbc04"/>
                </a:solidFill>
                <a:latin typeface="Arial Black"/>
                <a:ea typeface="Arial Black"/>
              </a:rPr>
              <a:t>établissements techniques et professionnels</a:t>
            </a:r>
            <a:endParaRPr b="0" lang="fr-F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5"/>
          <p:cNvSpPr/>
          <p:nvPr/>
        </p:nvSpPr>
        <p:spPr>
          <a:xfrm>
            <a:off x="1188720" y="2999160"/>
            <a:ext cx="67662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5f8fc"/>
                </a:solidFill>
                <a:latin typeface="Calibri"/>
                <a:ea typeface="Calibri"/>
              </a:rPr>
              <a:t>De la salle de classe au </a:t>
            </a:r>
            <a:r>
              <a:rPr b="1" lang="en-US" sz="1400" spc="-1" strike="noStrike">
                <a:solidFill>
                  <a:srgbClr val="fbbc04"/>
                </a:solidFill>
                <a:latin typeface="Calibri"/>
                <a:ea typeface="Calibri"/>
              </a:rPr>
              <a:t>cockpit du Ministère</a:t>
            </a:r>
            <a:r>
              <a:rPr b="0" lang="en-US" sz="1400" spc="-1" strike="noStrike">
                <a:solidFill>
                  <a:srgbClr val="f5f8fc"/>
                </a:solidFill>
                <a:latin typeface="Calibri"/>
                <a:ea typeface="Calibri"/>
              </a:rPr>
              <a:t> — en temps réel, même sans connexion internet.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Shape 6"/>
          <p:cNvSpPr/>
          <p:nvPr/>
        </p:nvSpPr>
        <p:spPr>
          <a:xfrm>
            <a:off x="338400" y="3529440"/>
            <a:ext cx="2669760" cy="1023840"/>
          </a:xfrm>
          <a:prstGeom prst="roundRect">
            <a:avLst>
              <a:gd name="adj" fmla="val 8929"/>
            </a:avLst>
          </a:prstGeom>
          <a:solidFill>
            <a:srgbClr val="16305a"/>
          </a:solidFill>
          <a:ln w="12700">
            <a:solidFill>
              <a:srgbClr val="2c4566"/>
            </a:solidFill>
            <a:round/>
          </a:ln>
          <a:effectLst>
            <a:outerShdw algn="bl" blurRad="114480" dir="5400000" dist="381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7"/>
          <p:cNvSpPr/>
          <p:nvPr/>
        </p:nvSpPr>
        <p:spPr>
          <a:xfrm>
            <a:off x="484560" y="3529440"/>
            <a:ext cx="237708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1" lang="en-US" sz="1400" spc="49" strike="noStrike">
                <a:solidFill>
                  <a:srgbClr val="fbbc04"/>
                </a:solidFill>
                <a:latin typeface="Calibri"/>
                <a:ea typeface="Calibri"/>
              </a:rPr>
              <a:t>Souveraine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8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950" spc="-1" strike="noStrike">
                <a:solidFill>
                  <a:srgbClr val="93a4bc"/>
                </a:solidFill>
                <a:latin typeface="Calibri"/>
                <a:ea typeface="Calibri"/>
              </a:rPr>
              <a:t>Données hébergées et maîtrisées au Congo. Chaque rôle cloisonné, chaque action tracée.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3237120" y="3529440"/>
            <a:ext cx="2669760" cy="1023840"/>
          </a:xfrm>
          <a:prstGeom prst="roundRect">
            <a:avLst>
              <a:gd name="adj" fmla="val 8929"/>
            </a:avLst>
          </a:prstGeom>
          <a:solidFill>
            <a:srgbClr val="16305a"/>
          </a:solidFill>
          <a:ln w="12700">
            <a:solidFill>
              <a:srgbClr val="2c4566"/>
            </a:solidFill>
            <a:round/>
          </a:ln>
          <a:effectLst>
            <a:outerShdw algn="bl" blurRad="114480" dir="5400000" dist="381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9"/>
          <p:cNvSpPr/>
          <p:nvPr/>
        </p:nvSpPr>
        <p:spPr>
          <a:xfrm>
            <a:off x="3383280" y="3529440"/>
            <a:ext cx="237708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1" lang="en-US" sz="1400" spc="49" strike="noStrike">
                <a:solidFill>
                  <a:srgbClr val="fbbc04"/>
                </a:solidFill>
                <a:latin typeface="Calibri"/>
                <a:ea typeface="Calibri"/>
              </a:rPr>
              <a:t>Hors-ligne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8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950" spc="-1" strike="noStrike">
                <a:solidFill>
                  <a:srgbClr val="93a4bc"/>
                </a:solidFill>
                <a:latin typeface="Calibri"/>
                <a:ea typeface="Calibri"/>
              </a:rPr>
              <a:t>Fonctionne sans internet ; se synchronise automatiquement au retour du réseau.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6135480" y="3529440"/>
            <a:ext cx="2669760" cy="1023840"/>
          </a:xfrm>
          <a:prstGeom prst="roundRect">
            <a:avLst>
              <a:gd name="adj" fmla="val 8929"/>
            </a:avLst>
          </a:prstGeom>
          <a:solidFill>
            <a:srgbClr val="16305a"/>
          </a:solidFill>
          <a:ln w="12700">
            <a:solidFill>
              <a:srgbClr val="2c4566"/>
            </a:solidFill>
            <a:round/>
          </a:ln>
          <a:effectLst>
            <a:outerShdw algn="bl" blurRad="114480" dir="5400000" dist="38160" kx="0" ky="0" rotWithShape="0" sx="100000" sy="100000">
              <a:srgbClr val="000000">
                <a:alpha val="2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6282000" y="3529440"/>
            <a:ext cx="237708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1" lang="en-US" sz="1400" spc="49" strike="noStrike">
                <a:solidFill>
                  <a:srgbClr val="fbbc04"/>
                </a:solidFill>
                <a:latin typeface="Calibri"/>
                <a:ea typeface="Calibri"/>
              </a:rPr>
              <a:t>Nationale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8000"/>
              </a:lnSpc>
              <a:spcAft>
                <a:spcPts val="300"/>
              </a:spcAft>
              <a:tabLst>
                <a:tab algn="l" pos="0"/>
              </a:tabLst>
            </a:pPr>
            <a:r>
              <a:rPr b="0" lang="en-US" sz="950" spc="-1" strike="noStrike">
                <a:solidFill>
                  <a:srgbClr val="93a4bc"/>
                </a:solidFill>
                <a:latin typeface="Calibri"/>
                <a:ea typeface="Calibri"/>
              </a:rPr>
              <a:t>Conçue pour plus de 1 000 établissements, sur les 15 départements du pays.</a:t>
            </a:r>
            <a:endParaRPr b="0" lang="fr-F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457200" y="46267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199" strike="noStrike">
                <a:solidFill>
                  <a:srgbClr val="93a4bc"/>
                </a:solidFill>
                <a:latin typeface="Calibri"/>
                <a:ea typeface="Calibri"/>
              </a:rPr>
              <a:t>DÉMONSTRATION</a:t>
            </a:r>
            <a:r>
              <a:rPr b="0" lang="en-US" sz="850" spc="-1" strike="noStrike">
                <a:solidFill>
                  <a:srgbClr val="6e829e"/>
                </a:solidFill>
                <a:latin typeface="Calibri"/>
                <a:ea typeface="Calibri"/>
              </a:rPr>
              <a:t>     E-PILOTE CONGO — v3.0.4     Document de présentation · confidentiel</a:t>
            </a:r>
            <a:endParaRPr b="0" lang="fr-FR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0" y="5029200"/>
            <a:ext cx="3056760" cy="114120"/>
          </a:xfrm>
          <a:prstGeom prst="rect">
            <a:avLst/>
          </a:prstGeom>
          <a:solidFill>
            <a:srgbClr val="009a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3048120" y="5029200"/>
            <a:ext cx="3056760" cy="114120"/>
          </a:xfrm>
          <a:prstGeom prst="rect">
            <a:avLst/>
          </a:prstGeom>
          <a:solidFill>
            <a:srgbClr val="fbbc0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15"/>
          <p:cNvSpPr/>
          <p:nvPr/>
        </p:nvSpPr>
        <p:spPr>
          <a:xfrm>
            <a:off x="6095880" y="5029200"/>
            <a:ext cx="3056760" cy="114120"/>
          </a:xfrm>
          <a:prstGeom prst="rect">
            <a:avLst/>
          </a:prstGeom>
          <a:solidFill>
            <a:srgbClr val="e0342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" name="" descr=""/>
          <p:cNvPicPr/>
          <p:nvPr/>
        </p:nvPicPr>
        <p:blipFill>
          <a:blip r:embed="rId2"/>
          <a:stretch/>
        </p:blipFill>
        <p:spPr>
          <a:xfrm>
            <a:off x="3600000" y="390240"/>
            <a:ext cx="756000" cy="72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2026-07-25T10:45:46Z</dcterms:created>
  <dc:creator>PptxGenJS</dc:creator>
  <dc:description/>
  <dc:language>fr-FR</dc:language>
  <cp:lastModifiedBy/>
  <dcterms:modified xsi:type="dcterms:W3CDTF">2026-07-25T13:16:30Z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On-screen Show (16:9)</vt:lpwstr>
  </property>
  <property fmtid="{D5CDD505-2E9C-101B-9397-08002B2CF9AE}" pid="4" name="Slides">
    <vt:i4>1</vt:i4>
  </property>
</Properties>
</file>